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94739" y="1594239"/>
            <a:ext cx="7098522" cy="7098522"/>
          </a:xfrm>
          <a:custGeom>
            <a:avLst/>
            <a:gdLst/>
            <a:ahLst/>
            <a:cxnLst/>
            <a:rect r="r" b="b" t="t" l="l"/>
            <a:pathLst>
              <a:path h="7098522" w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1114" y="2147626"/>
            <a:ext cx="10825773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Empirical Research and Integration of Dual-Branch GCN-CNN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53025"/>
            <a:ext cx="1623060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Facial Emotion Recognition (FER) App based on SOTA Models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 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6575" y="1965711"/>
            <a:ext cx="4938997" cy="5235189"/>
            <a:chOff x="0" y="0"/>
            <a:chExt cx="923573" cy="97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25401" y="0"/>
                  </a:moveTo>
                  <a:lnTo>
                    <a:pt x="798173" y="0"/>
                  </a:lnTo>
                  <a:cubicBezTo>
                    <a:pt x="831431" y="0"/>
                    <a:pt x="863327" y="13212"/>
                    <a:pt x="886844" y="36729"/>
                  </a:cubicBezTo>
                  <a:cubicBezTo>
                    <a:pt x="910362" y="60246"/>
                    <a:pt x="923573" y="92142"/>
                    <a:pt x="923573" y="125401"/>
                  </a:cubicBezTo>
                  <a:lnTo>
                    <a:pt x="923573" y="853559"/>
                  </a:lnTo>
                  <a:cubicBezTo>
                    <a:pt x="923573" y="886818"/>
                    <a:pt x="910362" y="918714"/>
                    <a:pt x="886844" y="942231"/>
                  </a:cubicBezTo>
                  <a:cubicBezTo>
                    <a:pt x="863327" y="965748"/>
                    <a:pt x="831431" y="978960"/>
                    <a:pt x="798173" y="978960"/>
                  </a:cubicBezTo>
                  <a:lnTo>
                    <a:pt x="125401" y="978960"/>
                  </a:lnTo>
                  <a:cubicBezTo>
                    <a:pt x="56144" y="978960"/>
                    <a:pt x="0" y="922816"/>
                    <a:pt x="0" y="853559"/>
                  </a:cubicBezTo>
                  <a:lnTo>
                    <a:pt x="0" y="125401"/>
                  </a:lnTo>
                  <a:cubicBezTo>
                    <a:pt x="0" y="56144"/>
                    <a:pt x="56144" y="0"/>
                    <a:pt x="125401" y="0"/>
                  </a:cubicBezTo>
                  <a:close/>
                </a:path>
              </a:pathLst>
            </a:custGeom>
            <a:blipFill>
              <a:blip r:embed="rId5"/>
              <a:stretch>
                <a:fillRect l="-29547" t="0" r="-2954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5016" y="1076325"/>
            <a:ext cx="9614284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5016" y="2566343"/>
            <a:ext cx="9614284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ations of Pure CNNs Body Text: Facial Emotion Recognition (FER) traditionally relies entirely on 2D Convolutional Neural Networks to extract local textures. However, these pure CNN architectures exhibit significant limitations: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Pose Variations: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They lack robustness against significant head rotations and spatial shifts.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 Bias: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They are highly susceptible to illumination variations and partial occlusions.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 Loss: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Subtle, complex expressions are often flattened or lost due to lighting biases.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hybrid Dual-Branch GCN-CNN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75693" y="1864951"/>
            <a:ext cx="5389372" cy="6508903"/>
            <a:chOff x="0" y="0"/>
            <a:chExt cx="834955" cy="10083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4955" cy="1008399"/>
            </a:xfrm>
            <a:custGeom>
              <a:avLst/>
              <a:gdLst/>
              <a:ahLst/>
              <a:cxnLst/>
              <a:rect r="r" b="b" t="t" l="l"/>
              <a:pathLst>
                <a:path h="1008399" w="834955">
                  <a:moveTo>
                    <a:pt x="114921" y="0"/>
                  </a:moveTo>
                  <a:lnTo>
                    <a:pt x="720033" y="0"/>
                  </a:lnTo>
                  <a:cubicBezTo>
                    <a:pt x="750512" y="0"/>
                    <a:pt x="779743" y="12108"/>
                    <a:pt x="801295" y="33660"/>
                  </a:cubicBezTo>
                  <a:cubicBezTo>
                    <a:pt x="822847" y="55212"/>
                    <a:pt x="834955" y="84442"/>
                    <a:pt x="834955" y="114921"/>
                  </a:cubicBezTo>
                  <a:lnTo>
                    <a:pt x="834955" y="893478"/>
                  </a:lnTo>
                  <a:cubicBezTo>
                    <a:pt x="834955" y="956947"/>
                    <a:pt x="783503" y="1008399"/>
                    <a:pt x="720033" y="1008399"/>
                  </a:cubicBezTo>
                  <a:lnTo>
                    <a:pt x="114921" y="1008399"/>
                  </a:lnTo>
                  <a:cubicBezTo>
                    <a:pt x="84442" y="1008399"/>
                    <a:pt x="55212" y="996292"/>
                    <a:pt x="33660" y="974740"/>
                  </a:cubicBezTo>
                  <a:cubicBezTo>
                    <a:pt x="12108" y="953188"/>
                    <a:pt x="0" y="923957"/>
                    <a:pt x="0" y="893478"/>
                  </a:cubicBezTo>
                  <a:lnTo>
                    <a:pt x="0" y="114921"/>
                  </a:lnTo>
                  <a:cubicBezTo>
                    <a:pt x="0" y="84442"/>
                    <a:pt x="12108" y="55212"/>
                    <a:pt x="33660" y="33660"/>
                  </a:cubicBezTo>
                  <a:cubicBezTo>
                    <a:pt x="55212" y="12108"/>
                    <a:pt x="84442" y="0"/>
                    <a:pt x="114921" y="0"/>
                  </a:cubicBezTo>
                  <a:close/>
                </a:path>
              </a:pathLst>
            </a:custGeom>
            <a:blipFill>
              <a:blip r:embed="rId5"/>
              <a:stretch>
                <a:fillRect l="-91735" t="0" r="-227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76325"/>
            <a:ext cx="10042085" cy="194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Architecture</a:t>
            </a:r>
          </a:p>
          <a:p>
            <a:pPr algn="l">
              <a:lnSpc>
                <a:spcPts val="72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53230" y="2367928"/>
            <a:ext cx="9649059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Dual-Branch Solution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Texture Branch (CNN):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Analyzes standard grayscale face images to intelligently capture local skin wrinkles, complex mouth curves, and subtle eyebrow movements.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Geometric Branch (GCN):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Interprets 468 precise facial landmarks as a biological graph to learn spatial deformability entirely independent of lighting and skin tone.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Classes: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focuses strictly on four key emotions: Anger, Happiness, Neutral, and Sadness to establish a highly robust analytical baseline.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56868" y="2752746"/>
            <a:ext cx="4760534" cy="4760534"/>
          </a:xfrm>
          <a:custGeom>
            <a:avLst/>
            <a:gdLst/>
            <a:ahLst/>
            <a:cxnLst/>
            <a:rect r="r" b="b" t="t" l="l"/>
            <a:pathLst>
              <a:path h="4760534" w="4760534">
                <a:moveTo>
                  <a:pt x="0" y="0"/>
                </a:moveTo>
                <a:lnTo>
                  <a:pt x="4760534" y="0"/>
                </a:lnTo>
                <a:lnTo>
                  <a:pt x="4760534" y="4760534"/>
                </a:lnTo>
                <a:lnTo>
                  <a:pt x="0" y="4760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28750"/>
            <a:ext cx="981994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59721"/>
            <a:ext cx="1623060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Diverse Source Datasets 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ensure robust generalization across controlled and uncontrolled environments, we curated a pipeline combining three highly diverse data sources.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592281"/>
            <a:ext cx="9333186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CK+ Dataset: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High-resolution, lab-controlled portraits featuring exaggerated, front-facing expressions.</a:t>
            </a:r>
          </a:p>
          <a:p>
            <a:pPr algn="just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ER2013: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Low-resolution (48x48) grayscale images from web searches with noise and occlusions.</a:t>
            </a:r>
          </a:p>
          <a:p>
            <a:pPr algn="just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AF-DB: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Highly diverse "in-the-wild" dataset containing natural expressions and complex lighting.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0064" y="2550074"/>
            <a:ext cx="4421921" cy="4417830"/>
          </a:xfrm>
          <a:custGeom>
            <a:avLst/>
            <a:gdLst/>
            <a:ahLst/>
            <a:cxnLst/>
            <a:rect r="r" b="b" t="t" l="l"/>
            <a:pathLst>
              <a:path h="4417830" w="4421921">
                <a:moveTo>
                  <a:pt x="0" y="0"/>
                </a:moveTo>
                <a:lnTo>
                  <a:pt x="4421921" y="0"/>
                </a:lnTo>
                <a:lnTo>
                  <a:pt x="4421921" y="4417831"/>
                </a:lnTo>
                <a:lnTo>
                  <a:pt x="0" y="44178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7786" y="1066800"/>
            <a:ext cx="8708398" cy="98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96069" y="2174789"/>
            <a:ext cx="116632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Formatting Pipeline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96069" y="2763165"/>
            <a:ext cx="10953783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Block 1: Image Formatting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images undergo strict standardization to 1-channel Grayscale and are resized using cubic interpolation to exactly 224x224 pixels.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Rationale: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Resolves massive dimensional discrepancies across datasets, eliminates environment color biases, and reduces memory consumption by 3x.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Block 2: Landmark Extraction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utilize the MediaPipe Tasks API to rapidly extract exactly 468 facial landmarks, saving coordinates as (468, 2) NumPy matrices.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Strict Protocol: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extreme pose or shadow prevents extraction, the corresponding source image is permanently deleted to maintain 1-to-1 matching cardinality.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23045" y="2447486"/>
            <a:ext cx="5553836" cy="5553836"/>
          </a:xfrm>
          <a:custGeom>
            <a:avLst/>
            <a:gdLst/>
            <a:ahLst/>
            <a:cxnLst/>
            <a:rect r="r" b="b" t="t" l="l"/>
            <a:pathLst>
              <a:path h="5553836" w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28946"/>
            <a:ext cx="1134078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Balancing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230" y="2695136"/>
            <a:ext cx="9338753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Balancing Strategy </a:t>
            </a: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Metric/Statistic: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18,000 Total Training Samples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Combating Natural Class Imbalance: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ollowing a stratified split of 70% Train, 15% Val, and 15% Test, we identified heavy imbalances skewing towards "Happiness" and "Neutral".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prevent model bias, the training set was rigidly balanced to exactly 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4,500 samples per emotion class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This was achieved via controlled undersampling of majority classes and geometric-safe oversampling of minority classes.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28946"/>
            <a:ext cx="1623060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Loading &amp; Augmentation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95136"/>
            <a:ext cx="16230600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DataLoader &amp; Augmentation: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loading is managed dynamically to feed the dual-branch architecture without breaking spatial coordinate relationships.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tf.data.Dataset Loader: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Streams nested inputs dynamically yielding both Image Tensors and Graph Tensors alongside One-Hot Labels, replicating grayscale channels to RGB on-the-fly for baseline backbone compatibility.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 Geometric Augmentation: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Strictly prohibits rotational, shearing, or flipping transformations on images. Such operations would instantly desynchronize the facial landmarks stored in the graph branch.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Intensity Modulation: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Applies Random Brightness scaling (pixel modulation between 0.8 and 1.2) within the loader. This safely simulates severe lighting variations without altering facial geometries.</a:t>
            </a:r>
          </a:p>
        </p:txBody>
      </p:sp>
      <p:sp>
        <p:nvSpPr>
          <p:cNvPr name="AutoShape 9" id="9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13041"/>
            <a:ext cx="1623060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Evaluating the Image-Only MobileNetV2 Architecture on the balanced 18,000-sample dataset to establish our core comparative benchmark.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 showing Validation Accuracy climbing from 51% at Epoch 0 to 60.37% at Epoch 16</a:t>
            </a:r>
          </a:p>
        </p:txBody>
      </p:sp>
      <p:sp>
        <p:nvSpPr>
          <p:cNvPr name="AutoShape 8" id="8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06641" y="4320210"/>
            <a:ext cx="5821038" cy="3849161"/>
          </a:xfrm>
          <a:custGeom>
            <a:avLst/>
            <a:gdLst/>
            <a:ahLst/>
            <a:cxnLst/>
            <a:rect r="r" b="b" t="t" l="l"/>
            <a:pathLst>
              <a:path h="3849161" w="5821038">
                <a:moveTo>
                  <a:pt x="0" y="0"/>
                </a:moveTo>
                <a:lnTo>
                  <a:pt x="5821038" y="0"/>
                </a:lnTo>
                <a:lnTo>
                  <a:pt x="5821038" y="3849161"/>
                </a:lnTo>
                <a:lnTo>
                  <a:pt x="0" y="3849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84348" y="4320210"/>
            <a:ext cx="5821038" cy="2903243"/>
          </a:xfrm>
          <a:custGeom>
            <a:avLst/>
            <a:gdLst/>
            <a:ahLst/>
            <a:cxnLst/>
            <a:rect r="r" b="b" t="t" l="l"/>
            <a:pathLst>
              <a:path h="2903243" w="5821038">
                <a:moveTo>
                  <a:pt x="0" y="0"/>
                </a:moveTo>
                <a:lnTo>
                  <a:pt x="5821038" y="0"/>
                </a:lnTo>
                <a:lnTo>
                  <a:pt x="5821038" y="2903242"/>
                </a:lnTo>
                <a:lnTo>
                  <a:pt x="0" y="2903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786" y="1009700"/>
            <a:ext cx="11364018" cy="103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Phase 2 Baseline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210" y="3336430"/>
            <a:ext cx="13878217" cy="4631855"/>
          </a:xfrm>
          <a:custGeom>
            <a:avLst/>
            <a:gdLst/>
            <a:ahLst/>
            <a:cxnLst/>
            <a:rect r="r" b="b" t="t" l="l"/>
            <a:pathLst>
              <a:path h="4631855" w="13878217">
                <a:moveTo>
                  <a:pt x="0" y="0"/>
                </a:moveTo>
                <a:lnTo>
                  <a:pt x="13878217" y="0"/>
                </a:lnTo>
                <a:lnTo>
                  <a:pt x="13878217" y="4631855"/>
                </a:lnTo>
                <a:lnTo>
                  <a:pt x="0" y="46318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76325"/>
            <a:ext cx="15179237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 Training Convergence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108783"/>
            <a:ext cx="1623060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frozen ImageNet backbone shows steady convergence over 20 epochs. Strict dataset balancing prevented overfitting, achieving a peak validation accuracy of 60.37% at Epoch 16.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28886" y="3717750"/>
            <a:ext cx="8054757" cy="4842923"/>
          </a:xfrm>
          <a:custGeom>
            <a:avLst/>
            <a:gdLst/>
            <a:ahLst/>
            <a:cxnLst/>
            <a:rect r="r" b="b" t="t" l="l"/>
            <a:pathLst>
              <a:path h="4842923" w="8054757">
                <a:moveTo>
                  <a:pt x="0" y="0"/>
                </a:moveTo>
                <a:lnTo>
                  <a:pt x="8054757" y="0"/>
                </a:lnTo>
                <a:lnTo>
                  <a:pt x="8054757" y="4842923"/>
                </a:lnTo>
                <a:lnTo>
                  <a:pt x="0" y="4842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47393"/>
            <a:ext cx="1600607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 Set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3230" y="2648713"/>
            <a:ext cx="1600607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metrics on the independent test dataset consisting of 5,102 samples representing natural real-world class distributions.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84166" y="2938170"/>
            <a:ext cx="5864081" cy="4398061"/>
          </a:xfrm>
          <a:custGeom>
            <a:avLst/>
            <a:gdLst/>
            <a:ahLst/>
            <a:cxnLst/>
            <a:rect r="r" b="b" t="t" l="l"/>
            <a:pathLst>
              <a:path h="4398061" w="5864081">
                <a:moveTo>
                  <a:pt x="0" y="0"/>
                </a:moveTo>
                <a:lnTo>
                  <a:pt x="5864080" y="0"/>
                </a:lnTo>
                <a:lnTo>
                  <a:pt x="5864080" y="4398061"/>
                </a:lnTo>
                <a:lnTo>
                  <a:pt x="0" y="43980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47393"/>
            <a:ext cx="1600607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Confusion Matrix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3230" y="2881020"/>
            <a:ext cx="8476001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baseline classification metrics reveal severe class-specific limitations within the 2D CNN texture branch: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Happiness Dominance: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model achieves a high F1-score (0.74) for happiness, driven by highly distinct visual textures (exposed teeth, raised cheeks).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 Emotion Failure: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Performance drops sharply for negative expressions (Anger: 0.45, Sadness: 0.47).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Neutral Overlap: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In-the-wild negative expressions share subtle, highly overlapping textures with the "Neutral" class, creating a critical bottleneck for pure CNNs.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94739" y="1594239"/>
            <a:ext cx="7098522" cy="7098522"/>
          </a:xfrm>
          <a:custGeom>
            <a:avLst/>
            <a:gdLst/>
            <a:ahLst/>
            <a:cxnLst/>
            <a:rect r="r" b="b" t="t" l="l"/>
            <a:pathLst>
              <a:path h="7098522" w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1114" y="2147626"/>
            <a:ext cx="10825773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50041"/>
            <a:ext cx="16230600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Case for GCN Integration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GCN landmarks model topological distances rather than raw pixel intensities, the hybrid network will remain resilient to lighting variations and low image resolutions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DAHL_henqwE</dc:identifier>
  <dcterms:modified xsi:type="dcterms:W3CDTF">2011-08-01T06:04:30Z</dcterms:modified>
  <cp:revision>1</cp:revision>
  <dc:title>report-001-slide</dc:title>
</cp:coreProperties>
</file>