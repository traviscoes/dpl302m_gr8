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2000"/>
                  </a:srgbClr>
                </a:gs>
                <a:gs pos="50000">
                  <a:srgbClr val="001496">
                    <a:alpha val="82000"/>
                  </a:srgbClr>
                </a:gs>
                <a:gs pos="100000">
                  <a:srgbClr val="000F70">
                    <a:alpha val="82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94739" y="1594239"/>
            <a:ext cx="7098522" cy="7098522"/>
          </a:xfrm>
          <a:custGeom>
            <a:avLst/>
            <a:gdLst/>
            <a:ahLst/>
            <a:cxnLst/>
            <a:rect r="r" b="b" t="t" l="l"/>
            <a:pathLst>
              <a:path h="7098522" w="7098522">
                <a:moveTo>
                  <a:pt x="0" y="0"/>
                </a:moveTo>
                <a:lnTo>
                  <a:pt x="7098522" y="0"/>
                </a:lnTo>
                <a:lnTo>
                  <a:pt x="7098522" y="7098522"/>
                </a:lnTo>
                <a:lnTo>
                  <a:pt x="0" y="7098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31114" y="2147626"/>
            <a:ext cx="10825773" cy="267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Empirical Research and Integration of Dual-Branch GCN-CNN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153025"/>
            <a:ext cx="1623060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Facial Emotion Recognition (FER) App based on SOTA Models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6575" y="1965711"/>
            <a:ext cx="5961378" cy="6318882"/>
            <a:chOff x="0" y="0"/>
            <a:chExt cx="923573" cy="978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3573" cy="978960"/>
            </a:xfrm>
            <a:custGeom>
              <a:avLst/>
              <a:gdLst/>
              <a:ahLst/>
              <a:cxnLst/>
              <a:rect r="r" b="b" t="t" l="l"/>
              <a:pathLst>
                <a:path h="978960" w="923573">
                  <a:moveTo>
                    <a:pt x="103894" y="0"/>
                  </a:moveTo>
                  <a:lnTo>
                    <a:pt x="819679" y="0"/>
                  </a:lnTo>
                  <a:cubicBezTo>
                    <a:pt x="847233" y="0"/>
                    <a:pt x="873659" y="10946"/>
                    <a:pt x="893143" y="30430"/>
                  </a:cubicBezTo>
                  <a:cubicBezTo>
                    <a:pt x="912627" y="49914"/>
                    <a:pt x="923573" y="76340"/>
                    <a:pt x="923573" y="103894"/>
                  </a:cubicBezTo>
                  <a:lnTo>
                    <a:pt x="923573" y="875066"/>
                  </a:lnTo>
                  <a:cubicBezTo>
                    <a:pt x="923573" y="902620"/>
                    <a:pt x="912627" y="929046"/>
                    <a:pt x="893143" y="948530"/>
                  </a:cubicBezTo>
                  <a:cubicBezTo>
                    <a:pt x="873659" y="968014"/>
                    <a:pt x="847233" y="978960"/>
                    <a:pt x="819679" y="978960"/>
                  </a:cubicBezTo>
                  <a:lnTo>
                    <a:pt x="103894" y="978960"/>
                  </a:lnTo>
                  <a:cubicBezTo>
                    <a:pt x="76340" y="978960"/>
                    <a:pt x="49914" y="968014"/>
                    <a:pt x="30430" y="948530"/>
                  </a:cubicBezTo>
                  <a:cubicBezTo>
                    <a:pt x="10946" y="929046"/>
                    <a:pt x="0" y="902620"/>
                    <a:pt x="0" y="875066"/>
                  </a:cubicBezTo>
                  <a:lnTo>
                    <a:pt x="0" y="103894"/>
                  </a:lnTo>
                  <a:cubicBezTo>
                    <a:pt x="0" y="76340"/>
                    <a:pt x="10946" y="49914"/>
                    <a:pt x="30430" y="30430"/>
                  </a:cubicBezTo>
                  <a:cubicBezTo>
                    <a:pt x="49914" y="10946"/>
                    <a:pt x="76340" y="0"/>
                    <a:pt x="103894" y="0"/>
                  </a:cubicBezTo>
                  <a:close/>
                </a:path>
              </a:pathLst>
            </a:custGeom>
            <a:blipFill>
              <a:blip r:embed="rId5"/>
              <a:stretch>
                <a:fillRect l="-29547" t="0" r="-2954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65286" y="7200900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45016" y="2289580"/>
            <a:ext cx="9614284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29515" y="3669930"/>
            <a:ext cx="9229785" cy="409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allenges of Current FER Systems: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Systems using traditional CNNs analyze faces as 2D flat grids.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Ignores the anatomical structure and connections of facial muscles.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Consequence: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Highly susceptible to noise and severe accuracy drops in real-world scenarios:</a:t>
            </a:r>
          </a:p>
          <a:p>
            <a:pPr algn="just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Partial occlusion (e.g., wearing masks, glasses).</a:t>
            </a:r>
          </a:p>
          <a:p>
            <a:pPr algn="just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Pose variations (extreme angles).</a:t>
            </a:r>
          </a:p>
          <a:p>
            <a:pPr algn="just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Complex lighting conditions.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375693" y="1864951"/>
            <a:ext cx="5389372" cy="6508903"/>
            <a:chOff x="0" y="0"/>
            <a:chExt cx="834955" cy="10083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4955" cy="1008399"/>
            </a:xfrm>
            <a:custGeom>
              <a:avLst/>
              <a:gdLst/>
              <a:ahLst/>
              <a:cxnLst/>
              <a:rect r="r" b="b" t="t" l="l"/>
              <a:pathLst>
                <a:path h="1008399" w="834955">
                  <a:moveTo>
                    <a:pt x="114921" y="0"/>
                  </a:moveTo>
                  <a:lnTo>
                    <a:pt x="720033" y="0"/>
                  </a:lnTo>
                  <a:cubicBezTo>
                    <a:pt x="750512" y="0"/>
                    <a:pt x="779743" y="12108"/>
                    <a:pt x="801295" y="33660"/>
                  </a:cubicBezTo>
                  <a:cubicBezTo>
                    <a:pt x="822847" y="55212"/>
                    <a:pt x="834955" y="84442"/>
                    <a:pt x="834955" y="114921"/>
                  </a:cubicBezTo>
                  <a:lnTo>
                    <a:pt x="834955" y="893478"/>
                  </a:lnTo>
                  <a:cubicBezTo>
                    <a:pt x="834955" y="956947"/>
                    <a:pt x="783503" y="1008399"/>
                    <a:pt x="720033" y="1008399"/>
                  </a:cubicBezTo>
                  <a:lnTo>
                    <a:pt x="114921" y="1008399"/>
                  </a:lnTo>
                  <a:cubicBezTo>
                    <a:pt x="84442" y="1008399"/>
                    <a:pt x="55212" y="996292"/>
                    <a:pt x="33660" y="974740"/>
                  </a:cubicBezTo>
                  <a:cubicBezTo>
                    <a:pt x="12108" y="953188"/>
                    <a:pt x="0" y="923957"/>
                    <a:pt x="0" y="893478"/>
                  </a:cubicBezTo>
                  <a:lnTo>
                    <a:pt x="0" y="114921"/>
                  </a:lnTo>
                  <a:cubicBezTo>
                    <a:pt x="0" y="84442"/>
                    <a:pt x="12108" y="55212"/>
                    <a:pt x="33660" y="33660"/>
                  </a:cubicBezTo>
                  <a:cubicBezTo>
                    <a:pt x="55212" y="12108"/>
                    <a:pt x="84442" y="0"/>
                    <a:pt x="114921" y="0"/>
                  </a:cubicBezTo>
                  <a:close/>
                </a:path>
              </a:pathLst>
            </a:custGeom>
            <a:blipFill>
              <a:blip r:embed="rId5"/>
              <a:stretch>
                <a:fillRect l="-91735" t="0" r="-2277" b="0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076325"/>
            <a:ext cx="10042085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3230" y="2367928"/>
            <a:ext cx="9649059" cy="371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SOTA-Inherited Dual-Branch Architecture Instead of building from scratch, the project focuses on integrating State-of-the-Art (SOTA) achievements:</a:t>
            </a:r>
          </a:p>
          <a:p>
            <a:pPr algn="just" marL="453390" indent="-226695" lvl="1">
              <a:lnSpc>
                <a:spcPts val="2940"/>
              </a:lnSpc>
              <a:buAutoNum type="arabicPeriod" startAt="1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GCN Branch (Graph Convolutional Network): Learns the spatial movement of facial muscle groups (Based on Action Units).</a:t>
            </a:r>
          </a:p>
          <a:p>
            <a:pPr algn="just" marL="453390" indent="-226695" lvl="1">
              <a:lnSpc>
                <a:spcPts val="2940"/>
              </a:lnSpc>
              <a:buAutoNum type="arabicPeriod" startAt="1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CNN Branch: Analyzes surface features (wrinkles, light patches) using Transfer Learning.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Value Proposition: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Increases accuracy, delivers outstanding noise robustness, and provides Explainable AI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56868" y="2752746"/>
            <a:ext cx="4760534" cy="4760534"/>
          </a:xfrm>
          <a:custGeom>
            <a:avLst/>
            <a:gdLst/>
            <a:ahLst/>
            <a:cxnLst/>
            <a:rect r="r" b="b" t="t" l="l"/>
            <a:pathLst>
              <a:path h="4760534" w="4760534">
                <a:moveTo>
                  <a:pt x="0" y="0"/>
                </a:moveTo>
                <a:lnTo>
                  <a:pt x="4760534" y="0"/>
                </a:lnTo>
                <a:lnTo>
                  <a:pt x="4760534" y="4760534"/>
                </a:lnTo>
                <a:lnTo>
                  <a:pt x="0" y="4760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94079" y="1669566"/>
            <a:ext cx="981994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4079" y="2873683"/>
            <a:ext cx="9819940" cy="48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Scope: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Focus on classifying 4 core emotions: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Happiness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Sadness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Anger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Neutral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ntegration &amp; Experimentation: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Apply MediaPipe to generate graph data.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Inherit GAT (Graph Attention Network) for the geometric branch.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Inherit ResNet/EfficientNet backbones for the surface branch.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Conduct in-depth research on Feature Fusion mechanisms.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Deliverable (POC):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real-time webcam application.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6575" y="2321548"/>
            <a:ext cx="4421921" cy="4417830"/>
          </a:xfrm>
          <a:custGeom>
            <a:avLst/>
            <a:gdLst/>
            <a:ahLst/>
            <a:cxnLst/>
            <a:rect r="r" b="b" t="t" l="l"/>
            <a:pathLst>
              <a:path h="4417830" w="4421921">
                <a:moveTo>
                  <a:pt x="0" y="0"/>
                </a:moveTo>
                <a:lnTo>
                  <a:pt x="4421921" y="0"/>
                </a:lnTo>
                <a:lnTo>
                  <a:pt x="4421921" y="4417830"/>
                </a:lnTo>
                <a:lnTo>
                  <a:pt x="0" y="44178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26921" y="2003328"/>
            <a:ext cx="8708398" cy="98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43465" y="3329561"/>
            <a:ext cx="10815835" cy="334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Merge &amp; Standardize from 3 Benchmark Datasets: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RAF-DB: In-the-wild images, diverse camera angles.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FER2013: Grayscale images, challenging lighting.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CK+: Highly standardized lab environment images.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Specialized Preprocessing for GCN (Optional in Report02):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Utilize Google MediaPipe Face Mesh.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Extract (X, Y) coordinates of facial Landmarks.</a:t>
            </a: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 as Node matrices before training to save computational resources.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23045" y="2447486"/>
            <a:ext cx="5553836" cy="5553836"/>
          </a:xfrm>
          <a:custGeom>
            <a:avLst/>
            <a:gdLst/>
            <a:ahLst/>
            <a:cxnLst/>
            <a:rect r="r" b="b" t="t" l="l"/>
            <a:pathLst>
              <a:path h="5553836" w="5553836">
                <a:moveTo>
                  <a:pt x="0" y="0"/>
                </a:moveTo>
                <a:lnTo>
                  <a:pt x="5553836" y="0"/>
                </a:lnTo>
                <a:lnTo>
                  <a:pt x="5553836" y="5553836"/>
                </a:lnTo>
                <a:lnTo>
                  <a:pt x="0" y="55538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428946"/>
            <a:ext cx="1134078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BRANCH 1 DETAILS - GCN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230" y="2695136"/>
            <a:ext cx="9417581" cy="44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Geometric Modeling (Adaptive Graph)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Nodes: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(x, y) coordinates of core landmarks.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Edges: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Instead of hard-coding, apply an Adaptive Graph (Learnable Adjacency Matrix).</a:t>
            </a:r>
          </a:p>
          <a:p>
            <a:pPr algn="just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Mechanism: The network automatically learns and adjusts the connection weights between facial muscles during backpropagation.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Architecture: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Inherit Graph Attention Network (GAT) from the PyTorch Geometric (PyG) library.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-3226599" y="8963464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23045" y="2447486"/>
            <a:ext cx="5553836" cy="5553836"/>
          </a:xfrm>
          <a:custGeom>
            <a:avLst/>
            <a:gdLst/>
            <a:ahLst/>
            <a:cxnLst/>
            <a:rect r="r" b="b" t="t" l="l"/>
            <a:pathLst>
              <a:path h="5553836" w="5553836">
                <a:moveTo>
                  <a:pt x="0" y="0"/>
                </a:moveTo>
                <a:lnTo>
                  <a:pt x="5553836" y="0"/>
                </a:lnTo>
                <a:lnTo>
                  <a:pt x="5553836" y="5553836"/>
                </a:lnTo>
                <a:lnTo>
                  <a:pt x="0" y="55538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428946"/>
            <a:ext cx="11340780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BRANCH 2 DETAILS - CNN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3230" y="2695136"/>
            <a:ext cx="9878960" cy="48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Surface Extraction (Specialized Transfer Learning)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Captures details like skin tension, wrinkles, and tears (features invisible to the GCN).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e-tuning Strategy:</a:t>
            </a:r>
          </a:p>
          <a:p>
            <a:pPr algn="just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powerful backbones (ResNet-50 / EfficientNet).</a:t>
            </a:r>
          </a:p>
          <a:p>
            <a:pPr algn="just">
              <a:lnSpc>
                <a:spcPts val="2940"/>
              </a:lnSpc>
            </a:pPr>
          </a:p>
          <a:p>
            <a:pPr algn="just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Point: Utilize Pre-trained weights from massive facial datasets (VGGFace2) rather than generic ImageNet.</a:t>
            </a:r>
          </a:p>
          <a:p>
            <a:pPr algn="just">
              <a:lnSpc>
                <a:spcPts val="2940"/>
              </a:lnSpc>
            </a:pPr>
          </a:p>
          <a:p>
            <a:pPr algn="just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Freeze early layers, and only Retrain the top 2-3 deep blocks and the Classification Head.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-3226599" y="8963464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18423" y="3771112"/>
            <a:ext cx="6497065" cy="5376321"/>
          </a:xfrm>
          <a:custGeom>
            <a:avLst/>
            <a:gdLst/>
            <a:ahLst/>
            <a:cxnLst/>
            <a:rect r="r" b="b" t="t" l="l"/>
            <a:pathLst>
              <a:path h="5376321" w="6497065">
                <a:moveTo>
                  <a:pt x="0" y="0"/>
                </a:moveTo>
                <a:lnTo>
                  <a:pt x="6497065" y="0"/>
                </a:lnTo>
                <a:lnTo>
                  <a:pt x="6497065" y="5376321"/>
                </a:lnTo>
                <a:lnTo>
                  <a:pt x="0" y="5376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48732" y="2203516"/>
            <a:ext cx="8378652" cy="48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connect the GCN and CNN branches most effectively?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 1 - Late Fusion (Concatenation):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Directly concatenate the feature vectors from both branches and pass through a Fully Connected layer. Easy to deploy, serves as the Baseline.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 2 - Attention-based Fusion: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Apply attention mechanisms (e.g., Squeeze-and-Excitation).</a:t>
            </a:r>
          </a:p>
          <a:p>
            <a:pPr algn="just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Effect: When the face is occluded (increasing noise in the CNN branch), the network automatically assigns a higher weight to the GCN branch to make a reliable decision.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36575" y="784896"/>
            <a:ext cx="7146742" cy="103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18"/>
              </a:lnSpc>
            </a:pPr>
            <a:r>
              <a:rPr lang="en-US" sz="70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FUSION BLOCK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cap="flat" w="28575">
            <a:solidFill>
              <a:srgbClr val="64DB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201900" y="-2854591"/>
            <a:ext cx="6172200" cy="6172200"/>
          </a:xfrm>
          <a:custGeom>
            <a:avLst/>
            <a:gdLst/>
            <a:ahLst/>
            <a:cxnLst/>
            <a:rect r="r" b="b" t="t" l="l"/>
            <a:pathLst>
              <a:path h="6172200" w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53230" y="1337406"/>
            <a:ext cx="12597633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&amp; TOOLS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1412" y="2822671"/>
            <a:ext cx="15517888" cy="409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Deep Learning: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PyTorch (Optimized for Graph architectures).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Graph Processing: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PyTorch Geometric (PyG).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Extraction: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MediaPipe Face Mesh, OpenCV.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Environment: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Colab Pro / Kaggle.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xperiment Tracking: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Weights &amp; Biases (W&amp;B) - Tracking loss/accuracy curves, comparing Fusion mechanisms.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POC Interface: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Streamlit + OpenCV VideoCapture.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2342" y="672469"/>
            <a:ext cx="530888" cy="617312"/>
          </a:xfrm>
          <a:custGeom>
            <a:avLst/>
            <a:gdLst/>
            <a:ahLst/>
            <a:cxnLst/>
            <a:rect r="r" b="b" t="t" l="l"/>
            <a:pathLst>
              <a:path h="617312" w="530888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9908" y="2165933"/>
            <a:ext cx="6608184" cy="6602071"/>
          </a:xfrm>
          <a:custGeom>
            <a:avLst/>
            <a:gdLst/>
            <a:ahLst/>
            <a:cxnLst/>
            <a:rect r="r" b="b" t="t" l="l"/>
            <a:pathLst>
              <a:path h="6602071" w="6608184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53230" y="1337406"/>
            <a:ext cx="16006070" cy="194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CRITERIA &amp; EXPECTED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1029" y="3476403"/>
            <a:ext cx="13660273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Evaluation (Accuracy/F1-Score):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Compare the Dual-Branch model against a single standalone CNN model (Baseline).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Robustness Evaluation (Optional):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 on a custom-collected "harsh" dataset (wearing half-face masks, sunglasses, extreme side profiles) to prove the GCN branch's ability to "rescue" accuracy.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Inference Speed: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 the POC achieves &gt; 15 FPS on a standard CPU/Webcam setup.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29515" y="-1031595"/>
            <a:ext cx="12370599" cy="1799360"/>
          </a:xfrm>
          <a:custGeom>
            <a:avLst/>
            <a:gdLst/>
            <a:ahLst/>
            <a:cxnLst/>
            <a:rect r="r" b="b" t="t" l="l"/>
            <a:pathLst>
              <a:path h="1799360" w="12370599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DAHL_henqwE</dc:identifier>
  <dcterms:modified xsi:type="dcterms:W3CDTF">2011-08-01T06:04:30Z</dcterms:modified>
  <cp:revision>1</cp:revision>
  <dc:title>report-001-slide</dc:title>
</cp:coreProperties>
</file>